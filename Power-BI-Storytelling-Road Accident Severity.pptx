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9" r:id="rId5"/>
    <p:sldId id="258" r:id="rId6"/>
    <p:sldId id="260" r:id="rId7"/>
    <p:sldId id="261" r:id="rId8"/>
    <p:sldId id="262" r:id="rId9"/>
    <p:sldId id="263" r:id="rId10"/>
    <p:sldId id="264" r:id="rId11"/>
    <p:sldId id="265" r:id="rId12"/>
    <p:sldId id="266" r:id="rId13"/>
  </p:sldIdLst>
  <p:sldSz cx="12192000" cy="6858000"/>
  <p:notesSz cx="6858000" cy="9144000"/>
  <p:custDataLst>
    <p:tags r:id="rId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BC108F-2AB8-48DA-AB49-F9E86BDDFE2F}" v="6" dt="2018-08-08T09:06:44.7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51"/>
    <p:restoredTop sz="94647"/>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7A2730A-859E-B540-ADF3-E97069AD1FDB}" type="datetimeFigureOut">
              <a:rPr lang="en-US" smtClean="0"/>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47634889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A2730A-859E-B540-ADF3-E97069AD1FDB}" type="datetimeFigureOut">
              <a:rPr lang="en-US" smtClean="0"/>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565425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37A2730A-859E-B540-ADF3-E97069AD1FDB}" type="datetimeFigureOut">
              <a:rPr lang="en-US" smtClean="0"/>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5610805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37A2730A-859E-B540-ADF3-E97069AD1FDB}" type="datetimeFigureOut">
              <a:rPr lang="en-US" smtClean="0"/>
              <a:t>11/14/2025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862999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37A2730A-859E-B540-ADF3-E97069AD1FDB}" type="datetimeFigureOut">
              <a:rPr lang="en-US" smtClean="0"/>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05DC9C-C50D-D242-B083-59CEE07163F1}"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947223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A2730A-859E-B540-ADF3-E97069AD1FDB}" type="datetimeFigureOut">
              <a:rPr lang="en-US" smtClean="0"/>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85121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A2730A-859E-B540-ADF3-E97069AD1FDB}" type="datetimeFigureOut">
              <a:rPr lang="en-US" smtClean="0"/>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609273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37A2730A-859E-B540-ADF3-E97069AD1FDB}" type="datetimeFigureOut">
              <a:rPr lang="en-US" smtClean="0"/>
              <a:t>11/14/2025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78201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7A2730A-859E-B540-ADF3-E97069AD1FDB}" type="datetimeFigureOut">
              <a:rPr lang="en-US" smtClean="0"/>
              <a:t>11/14/2025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55772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A2730A-859E-B540-ADF3-E97069AD1FDB}"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814275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A2730A-859E-B540-ADF3-E97069AD1FDB}"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85037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7A2730A-859E-B540-ADF3-E97069AD1FDB}" type="datetimeFigureOut">
              <a:rPr lang="en-US" smtClean="0"/>
              <a:t>11/14/2025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E05DC9C-C50D-D242-B083-59CEE07163F1}" type="slidenum">
              <a:rPr lang="en-US" smtClean="0"/>
              <a:t>‹#›</a:t>
            </a:fld>
            <a:endParaRPr lang="en-US"/>
          </a:p>
        </p:txBody>
      </p:sp>
    </p:spTree>
    <p:extLst>
      <p:ext uri="{BB962C8B-B14F-4D97-AF65-F5344CB8AC3E}">
        <p14:creationId xmlns:p14="http://schemas.microsoft.com/office/powerpoint/2010/main" val="436457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paramitasen/powerbi-dashboard-road-accidents-analytic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F4DCD-626B-6D5D-FE05-A4385FCD83AC}"/>
              </a:ext>
            </a:extLst>
          </p:cNvPr>
          <p:cNvSpPr>
            <a:spLocks noGrp="1"/>
          </p:cNvSpPr>
          <p:nvPr>
            <p:ph type="ctrTitle"/>
          </p:nvPr>
        </p:nvSpPr>
        <p:spPr/>
        <p:txBody>
          <a:bodyPr/>
          <a:lstStyle/>
          <a:p>
            <a:r>
              <a:rPr lang="en-IN" dirty="0"/>
              <a:t>ROAD ACCIDENT SEVERITY analysis</a:t>
            </a:r>
          </a:p>
        </p:txBody>
      </p:sp>
      <p:sp>
        <p:nvSpPr>
          <p:cNvPr id="3" name="Subtitle 2">
            <a:extLst>
              <a:ext uri="{FF2B5EF4-FFF2-40B4-BE49-F238E27FC236}">
                <a16:creationId xmlns:a16="http://schemas.microsoft.com/office/drawing/2014/main" id="{3241D687-6333-74AD-ECA3-8F91C2712548}"/>
              </a:ext>
            </a:extLst>
          </p:cNvPr>
          <p:cNvSpPr>
            <a:spLocks noGrp="1"/>
          </p:cNvSpPr>
          <p:nvPr>
            <p:ph type="subTitle" idx="1"/>
          </p:nvPr>
        </p:nvSpPr>
        <p:spPr/>
        <p:txBody>
          <a:bodyPr/>
          <a:lstStyle/>
          <a:p>
            <a:r>
              <a:rPr lang="en-IN" dirty="0"/>
              <a:t>Presented by: Jubelin Elizabeth Joji</a:t>
            </a:r>
          </a:p>
        </p:txBody>
      </p:sp>
    </p:spTree>
    <p:extLst>
      <p:ext uri="{BB962C8B-B14F-4D97-AF65-F5344CB8AC3E}">
        <p14:creationId xmlns:p14="http://schemas.microsoft.com/office/powerpoint/2010/main" val="2344433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6D2D8-82F2-3A59-5E36-F360A14CD585}"/>
              </a:ext>
            </a:extLst>
          </p:cNvPr>
          <p:cNvSpPr>
            <a:spLocks noGrp="1"/>
          </p:cNvSpPr>
          <p:nvPr>
            <p:ph type="title"/>
          </p:nvPr>
        </p:nvSpPr>
        <p:spPr/>
        <p:txBody>
          <a:bodyPr/>
          <a:lstStyle/>
          <a:p>
            <a:r>
              <a:rPr lang="en-IN" dirty="0"/>
              <a:t>Why road accident analysis?</a:t>
            </a:r>
          </a:p>
        </p:txBody>
      </p:sp>
      <p:sp>
        <p:nvSpPr>
          <p:cNvPr id="3" name="Content Placeholder 2">
            <a:extLst>
              <a:ext uri="{FF2B5EF4-FFF2-40B4-BE49-F238E27FC236}">
                <a16:creationId xmlns:a16="http://schemas.microsoft.com/office/drawing/2014/main" id="{9161A816-5CD3-18AF-47B6-3E3B209FFC67}"/>
              </a:ext>
            </a:extLst>
          </p:cNvPr>
          <p:cNvSpPr>
            <a:spLocks noGrp="1"/>
          </p:cNvSpPr>
          <p:nvPr>
            <p:ph idx="1"/>
          </p:nvPr>
        </p:nvSpPr>
        <p:spPr/>
        <p:txBody>
          <a:bodyPr/>
          <a:lstStyle/>
          <a:p>
            <a:r>
              <a:rPr lang="en-IN" dirty="0"/>
              <a:t>Main causes of the mortality worldwide.</a:t>
            </a:r>
          </a:p>
          <a:p>
            <a:r>
              <a:rPr lang="en-IN" dirty="0"/>
              <a:t>Need for preventing future crashes and the severity of the accident.</a:t>
            </a:r>
          </a:p>
          <a:p>
            <a:r>
              <a:rPr lang="en-IN" dirty="0"/>
              <a:t>This project aims to </a:t>
            </a:r>
            <a:r>
              <a:rPr lang="en-IN" b="1" dirty="0"/>
              <a:t>analyse trends and identify factors </a:t>
            </a:r>
            <a:r>
              <a:rPr lang="en-IN" dirty="0"/>
              <a:t>influencing the severity.</a:t>
            </a:r>
          </a:p>
        </p:txBody>
      </p:sp>
    </p:spTree>
    <p:extLst>
      <p:ext uri="{BB962C8B-B14F-4D97-AF65-F5344CB8AC3E}">
        <p14:creationId xmlns:p14="http://schemas.microsoft.com/office/powerpoint/2010/main" val="2722369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E647B-9455-169E-B0B2-CA3BFACEB209}"/>
              </a:ext>
            </a:extLst>
          </p:cNvPr>
          <p:cNvSpPr>
            <a:spLocks noGrp="1"/>
          </p:cNvSpPr>
          <p:nvPr>
            <p:ph type="title"/>
          </p:nvPr>
        </p:nvSpPr>
        <p:spPr/>
        <p:txBody>
          <a:bodyPr/>
          <a:lstStyle/>
          <a:p>
            <a:r>
              <a:rPr lang="en-IN" dirty="0"/>
              <a:t>Dataset description</a:t>
            </a:r>
          </a:p>
        </p:txBody>
      </p:sp>
      <p:sp>
        <p:nvSpPr>
          <p:cNvPr id="3" name="Content Placeholder 2">
            <a:extLst>
              <a:ext uri="{FF2B5EF4-FFF2-40B4-BE49-F238E27FC236}">
                <a16:creationId xmlns:a16="http://schemas.microsoft.com/office/drawing/2014/main" id="{EA180488-B905-7AE8-4DDD-F3EB4BF46498}"/>
              </a:ext>
            </a:extLst>
          </p:cNvPr>
          <p:cNvSpPr>
            <a:spLocks noGrp="1"/>
          </p:cNvSpPr>
          <p:nvPr>
            <p:ph idx="1"/>
          </p:nvPr>
        </p:nvSpPr>
        <p:spPr/>
        <p:txBody>
          <a:bodyPr>
            <a:normAutofit lnSpcReduction="10000"/>
          </a:bodyPr>
          <a:lstStyle/>
          <a:p>
            <a:r>
              <a:rPr lang="en-IN" b="1" dirty="0"/>
              <a:t>Source</a:t>
            </a:r>
            <a:r>
              <a:rPr lang="en-IN" dirty="0"/>
              <a:t>: UK Road dataset obtained from Kaggle.</a:t>
            </a:r>
            <a:br>
              <a:rPr lang="en-IN" dirty="0"/>
            </a:br>
            <a:r>
              <a:rPr lang="en-IN" dirty="0" err="1"/>
              <a:t>RoadAccident_Dataset</a:t>
            </a:r>
            <a:br>
              <a:rPr lang="en-IN" dirty="0"/>
            </a:br>
            <a:r>
              <a:rPr lang="en-IN" dirty="0">
                <a:hlinkClick r:id="rId2"/>
              </a:rPr>
              <a:t>https://www.kaggle.com/datasets/paramitasen/powerbi-dashboard-road-accidents-analytics</a:t>
            </a:r>
            <a:endParaRPr lang="en-IN" dirty="0"/>
          </a:p>
          <a:p>
            <a:r>
              <a:rPr lang="en-IN" b="1" dirty="0"/>
              <a:t>Records</a:t>
            </a:r>
            <a:r>
              <a:rPr lang="en-IN" dirty="0"/>
              <a:t>: 3,07,973 road accidents and </a:t>
            </a:r>
            <a:r>
              <a:rPr lang="en-IN"/>
              <a:t>21 columns.</a:t>
            </a:r>
            <a:endParaRPr lang="en-IN" dirty="0"/>
          </a:p>
          <a:p>
            <a:r>
              <a:rPr lang="en-IN" b="1" dirty="0"/>
              <a:t>Key Attributes</a:t>
            </a:r>
            <a:r>
              <a:rPr lang="en-IN" dirty="0"/>
              <a:t>:</a:t>
            </a:r>
            <a:br>
              <a:rPr lang="en-IN" dirty="0"/>
            </a:br>
            <a:r>
              <a:rPr lang="en-IN" dirty="0"/>
              <a:t>  1. Accident Severity: Fatal, Serious, Slight</a:t>
            </a:r>
            <a:br>
              <a:rPr lang="en-IN" dirty="0"/>
            </a:br>
            <a:r>
              <a:rPr lang="en-IN" dirty="0"/>
              <a:t>  2. Location: District</a:t>
            </a:r>
            <a:br>
              <a:rPr lang="en-IN" dirty="0"/>
            </a:br>
            <a:r>
              <a:rPr lang="en-IN" dirty="0"/>
              <a:t>  3. Environmental Conditions: Weather Conditions, Light Conditions, </a:t>
            </a:r>
            <a:br>
              <a:rPr lang="en-IN" dirty="0"/>
            </a:br>
            <a:r>
              <a:rPr lang="en-IN" dirty="0"/>
              <a:t>   Road  type</a:t>
            </a:r>
            <a:br>
              <a:rPr lang="en-IN" dirty="0"/>
            </a:br>
            <a:r>
              <a:rPr lang="en-IN" dirty="0"/>
              <a:t>  4. Vehicle and Casualty counts</a:t>
            </a:r>
          </a:p>
        </p:txBody>
      </p:sp>
    </p:spTree>
    <p:extLst>
      <p:ext uri="{BB962C8B-B14F-4D97-AF65-F5344CB8AC3E}">
        <p14:creationId xmlns:p14="http://schemas.microsoft.com/office/powerpoint/2010/main" val="2375925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EF81-D12A-D690-473D-C879C3A91F7A}"/>
              </a:ext>
            </a:extLst>
          </p:cNvPr>
          <p:cNvSpPr>
            <a:spLocks noGrp="1"/>
          </p:cNvSpPr>
          <p:nvPr>
            <p:ph type="title"/>
          </p:nvPr>
        </p:nvSpPr>
        <p:spPr/>
        <p:txBody>
          <a:bodyPr/>
          <a:lstStyle/>
          <a:p>
            <a:r>
              <a:rPr lang="en-IN" dirty="0"/>
              <a:t>DATA model overview</a:t>
            </a:r>
          </a:p>
        </p:txBody>
      </p:sp>
      <p:sp>
        <p:nvSpPr>
          <p:cNvPr id="3" name="Content Placeholder 2">
            <a:extLst>
              <a:ext uri="{FF2B5EF4-FFF2-40B4-BE49-F238E27FC236}">
                <a16:creationId xmlns:a16="http://schemas.microsoft.com/office/drawing/2014/main" id="{53C9B5D4-5DC0-CF07-EE43-FE1D644FF6B4}"/>
              </a:ext>
            </a:extLst>
          </p:cNvPr>
          <p:cNvSpPr>
            <a:spLocks noGrp="1"/>
          </p:cNvSpPr>
          <p:nvPr>
            <p:ph idx="1"/>
          </p:nvPr>
        </p:nvSpPr>
        <p:spPr/>
        <p:txBody>
          <a:bodyPr/>
          <a:lstStyle/>
          <a:p>
            <a:r>
              <a:rPr lang="en-IN" dirty="0"/>
              <a:t>One main table: Data &amp; One dimensional table: </a:t>
            </a:r>
            <a:r>
              <a:rPr lang="en-IN" dirty="0" err="1"/>
              <a:t>Date_Table</a:t>
            </a:r>
            <a:endParaRPr lang="en-IN" dirty="0"/>
          </a:p>
          <a:p>
            <a:r>
              <a:rPr lang="en-IN" dirty="0"/>
              <a:t>Relationship:  One-to-many</a:t>
            </a:r>
          </a:p>
          <a:p>
            <a:r>
              <a:rPr lang="en-IN" dirty="0" err="1"/>
              <a:t>Measures_table</a:t>
            </a:r>
            <a:r>
              <a:rPr lang="en-IN" dirty="0"/>
              <a:t>:</a:t>
            </a:r>
            <a:br>
              <a:rPr lang="en-IN" dirty="0"/>
            </a:br>
            <a:r>
              <a:rPr lang="en-IN" dirty="0"/>
              <a:t>1. </a:t>
            </a:r>
            <a:r>
              <a:rPr lang="en-IN" dirty="0" err="1"/>
              <a:t>Total_Accidents</a:t>
            </a:r>
            <a:r>
              <a:rPr lang="en-IN" dirty="0"/>
              <a:t> = COUNT(Data[</a:t>
            </a:r>
            <a:r>
              <a:rPr lang="en-IN" dirty="0" err="1"/>
              <a:t>Accident_Index</a:t>
            </a:r>
            <a:r>
              <a:rPr lang="en-IN" dirty="0"/>
              <a:t>])</a:t>
            </a:r>
            <a:br>
              <a:rPr lang="en-IN" dirty="0"/>
            </a:br>
            <a:r>
              <a:rPr lang="en-IN" dirty="0"/>
              <a:t>2. </a:t>
            </a:r>
            <a:r>
              <a:rPr lang="en-IN" dirty="0" err="1"/>
              <a:t>Total_Casualties</a:t>
            </a:r>
            <a:r>
              <a:rPr lang="en-IN" dirty="0"/>
              <a:t> = SUM(Data[</a:t>
            </a:r>
            <a:r>
              <a:rPr lang="en-IN" dirty="0" err="1"/>
              <a:t>Number_of_Casualties</a:t>
            </a:r>
            <a:r>
              <a:rPr lang="en-IN" dirty="0"/>
              <a:t>])</a:t>
            </a:r>
            <a:br>
              <a:rPr lang="en-IN" dirty="0"/>
            </a:br>
            <a:r>
              <a:rPr lang="en-IN" dirty="0"/>
              <a:t>3. </a:t>
            </a:r>
            <a:r>
              <a:rPr lang="en-IN" dirty="0" err="1"/>
              <a:t>Total_Vehicles</a:t>
            </a:r>
            <a:r>
              <a:rPr lang="en-IN" dirty="0"/>
              <a:t>    = SUM(Data[</a:t>
            </a:r>
            <a:r>
              <a:rPr lang="en-IN" dirty="0" err="1"/>
              <a:t>Number_of_vehicles</a:t>
            </a:r>
            <a:r>
              <a:rPr lang="en-IN" dirty="0"/>
              <a:t>])</a:t>
            </a:r>
          </a:p>
        </p:txBody>
      </p:sp>
    </p:spTree>
    <p:extLst>
      <p:ext uri="{BB962C8B-B14F-4D97-AF65-F5344CB8AC3E}">
        <p14:creationId xmlns:p14="http://schemas.microsoft.com/office/powerpoint/2010/main" val="4047620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EC735-C677-0345-850F-8F7A9F3DEF53}"/>
              </a:ext>
            </a:extLst>
          </p:cNvPr>
          <p:cNvSpPr>
            <a:spLocks noGrp="1"/>
          </p:cNvSpPr>
          <p:nvPr>
            <p:ph type="title"/>
          </p:nvPr>
        </p:nvSpPr>
        <p:spPr/>
        <p:txBody>
          <a:bodyPr/>
          <a:lstStyle/>
          <a:p>
            <a:r>
              <a:rPr lang="en-IN" b="1" dirty="0"/>
              <a:t>INSIGHTS</a:t>
            </a:r>
            <a:br>
              <a:rPr lang="en-IN" dirty="0"/>
            </a:br>
            <a:r>
              <a:rPr lang="en-IN" dirty="0"/>
              <a:t>OVERVIEW </a:t>
            </a:r>
            <a:r>
              <a:rPr lang="en-IN" dirty="0" err="1"/>
              <a:t>DASHboard</a:t>
            </a:r>
            <a:endParaRPr lang="en-IN" dirty="0"/>
          </a:p>
        </p:txBody>
      </p:sp>
      <p:sp>
        <p:nvSpPr>
          <p:cNvPr id="3" name="Content Placeholder 2">
            <a:extLst>
              <a:ext uri="{FF2B5EF4-FFF2-40B4-BE49-F238E27FC236}">
                <a16:creationId xmlns:a16="http://schemas.microsoft.com/office/drawing/2014/main" id="{91C6A1C0-04F6-DFD2-1CD4-FC093F4CA04E}"/>
              </a:ext>
            </a:extLst>
          </p:cNvPr>
          <p:cNvSpPr>
            <a:spLocks noGrp="1"/>
          </p:cNvSpPr>
          <p:nvPr>
            <p:ph idx="1"/>
          </p:nvPr>
        </p:nvSpPr>
        <p:spPr>
          <a:xfrm>
            <a:off x="2231136" y="2638044"/>
            <a:ext cx="7729728" cy="3717036"/>
          </a:xfrm>
        </p:spPr>
        <p:txBody>
          <a:bodyPr>
            <a:normAutofit/>
          </a:bodyPr>
          <a:lstStyle/>
          <a:p>
            <a:pPr marL="0" indent="0">
              <a:buNone/>
            </a:pPr>
            <a:r>
              <a:rPr lang="en-IN" b="1" dirty="0"/>
              <a:t>Key Visuals:</a:t>
            </a:r>
          </a:p>
          <a:p>
            <a:r>
              <a:rPr lang="en-IN" b="1" dirty="0"/>
              <a:t>Line Chart: </a:t>
            </a:r>
            <a:r>
              <a:rPr lang="en-IN" dirty="0"/>
              <a:t>Monthly Accident trends seen in 2021 and 2022.</a:t>
            </a:r>
          </a:p>
          <a:p>
            <a:r>
              <a:rPr lang="en-IN" b="1" dirty="0"/>
              <a:t>Donut Chart: </a:t>
            </a:r>
            <a:r>
              <a:rPr lang="en-IN" dirty="0"/>
              <a:t>Distribution of Accidents based on severity.</a:t>
            </a:r>
          </a:p>
          <a:p>
            <a:r>
              <a:rPr lang="en-IN" b="1" dirty="0"/>
              <a:t>Pie Chart: </a:t>
            </a:r>
            <a:r>
              <a:rPr lang="en-IN" dirty="0"/>
              <a:t>Distribution of Accidents in Rural and Urban Areas.</a:t>
            </a:r>
          </a:p>
          <a:p>
            <a:r>
              <a:rPr lang="en-IN" b="1" dirty="0"/>
              <a:t>3 Card Visuals:</a:t>
            </a:r>
            <a:br>
              <a:rPr lang="en-IN" b="1" dirty="0"/>
            </a:br>
            <a:r>
              <a:rPr lang="en-IN" dirty="0"/>
              <a:t> 1.Total_Accidents</a:t>
            </a:r>
            <a:br>
              <a:rPr lang="en-IN" dirty="0"/>
            </a:br>
            <a:r>
              <a:rPr lang="en-IN" dirty="0"/>
              <a:t> 2. </a:t>
            </a:r>
            <a:r>
              <a:rPr lang="en-IN" dirty="0" err="1"/>
              <a:t>Total_Casualties</a:t>
            </a:r>
            <a:br>
              <a:rPr lang="en-IN" dirty="0"/>
            </a:br>
            <a:r>
              <a:rPr lang="en-IN" dirty="0"/>
              <a:t> 3. </a:t>
            </a:r>
            <a:r>
              <a:rPr lang="en-IN" dirty="0" err="1"/>
              <a:t>Total_Vehicles</a:t>
            </a:r>
            <a:r>
              <a:rPr lang="en-IN" dirty="0"/>
              <a:t> Involved</a:t>
            </a:r>
          </a:p>
          <a:p>
            <a:pPr marL="0" indent="0">
              <a:buNone/>
            </a:pPr>
            <a:r>
              <a:rPr lang="en-IN" b="1" dirty="0"/>
              <a:t>Insight: </a:t>
            </a:r>
            <a:r>
              <a:rPr lang="en-IN" dirty="0"/>
              <a:t>Slight accidents dominate overall incidents; certain months have high accident rates especially in urban areas.</a:t>
            </a:r>
            <a:endParaRPr lang="en-IN" b="1" dirty="0"/>
          </a:p>
        </p:txBody>
      </p:sp>
    </p:spTree>
    <p:extLst>
      <p:ext uri="{BB962C8B-B14F-4D97-AF65-F5344CB8AC3E}">
        <p14:creationId xmlns:p14="http://schemas.microsoft.com/office/powerpoint/2010/main" val="2975762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47F2F-7C7B-BCD2-188A-E5ECA7F9752B}"/>
              </a:ext>
            </a:extLst>
          </p:cNvPr>
          <p:cNvSpPr>
            <a:spLocks noGrp="1"/>
          </p:cNvSpPr>
          <p:nvPr>
            <p:ph type="title"/>
          </p:nvPr>
        </p:nvSpPr>
        <p:spPr/>
        <p:txBody>
          <a:bodyPr/>
          <a:lstStyle/>
          <a:p>
            <a:r>
              <a:rPr lang="en-IN" b="1" dirty="0"/>
              <a:t>INSIGHTS</a:t>
            </a:r>
            <a:br>
              <a:rPr lang="en-IN" dirty="0"/>
            </a:br>
            <a:r>
              <a:rPr lang="en-IN" dirty="0"/>
              <a:t>Severity analysis</a:t>
            </a:r>
          </a:p>
        </p:txBody>
      </p:sp>
      <p:sp>
        <p:nvSpPr>
          <p:cNvPr id="3" name="Content Placeholder 2">
            <a:extLst>
              <a:ext uri="{FF2B5EF4-FFF2-40B4-BE49-F238E27FC236}">
                <a16:creationId xmlns:a16="http://schemas.microsoft.com/office/drawing/2014/main" id="{2E675341-7E0E-0C0D-F949-C95A32CE42F7}"/>
              </a:ext>
            </a:extLst>
          </p:cNvPr>
          <p:cNvSpPr>
            <a:spLocks noGrp="1"/>
          </p:cNvSpPr>
          <p:nvPr>
            <p:ph idx="1"/>
          </p:nvPr>
        </p:nvSpPr>
        <p:spPr/>
        <p:txBody>
          <a:bodyPr/>
          <a:lstStyle/>
          <a:p>
            <a:pPr marL="0" indent="0">
              <a:buNone/>
            </a:pPr>
            <a:r>
              <a:rPr lang="en-IN" b="1" dirty="0"/>
              <a:t>Visuals:</a:t>
            </a:r>
          </a:p>
          <a:p>
            <a:r>
              <a:rPr lang="en-IN" dirty="0"/>
              <a:t>Severity Vs. Weather Conditions, Light Conditions and Road type.</a:t>
            </a:r>
          </a:p>
          <a:p>
            <a:r>
              <a:rPr lang="en-IN" dirty="0"/>
              <a:t>Severity in Urban vs. Rural</a:t>
            </a:r>
          </a:p>
          <a:p>
            <a:pPr marL="0" indent="0">
              <a:buNone/>
            </a:pPr>
            <a:r>
              <a:rPr lang="en-IN" b="1" dirty="0"/>
              <a:t>Insights:</a:t>
            </a:r>
          </a:p>
          <a:p>
            <a:r>
              <a:rPr lang="en-IN" dirty="0"/>
              <a:t>High slight accident rates under good weather and in daylight driving on a dry surface – Reckless driving, Over speeding.</a:t>
            </a:r>
          </a:p>
          <a:p>
            <a:r>
              <a:rPr lang="en-IN" dirty="0"/>
              <a:t>Fatal accidents in Rural &gt; Fatal accidents in Urban.</a:t>
            </a:r>
          </a:p>
        </p:txBody>
      </p:sp>
    </p:spTree>
    <p:extLst>
      <p:ext uri="{BB962C8B-B14F-4D97-AF65-F5344CB8AC3E}">
        <p14:creationId xmlns:p14="http://schemas.microsoft.com/office/powerpoint/2010/main" val="1034741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F2937-7812-6DC0-3FB6-E62553F59781}"/>
              </a:ext>
            </a:extLst>
          </p:cNvPr>
          <p:cNvSpPr>
            <a:spLocks noGrp="1"/>
          </p:cNvSpPr>
          <p:nvPr>
            <p:ph type="title"/>
          </p:nvPr>
        </p:nvSpPr>
        <p:spPr/>
        <p:txBody>
          <a:bodyPr/>
          <a:lstStyle/>
          <a:p>
            <a:r>
              <a:rPr lang="en-IN" b="1" dirty="0"/>
              <a:t>Insights</a:t>
            </a:r>
            <a:br>
              <a:rPr lang="en-IN" dirty="0"/>
            </a:br>
            <a:r>
              <a:rPr lang="en-IN" dirty="0"/>
              <a:t>vehicle &amp; casualty insights</a:t>
            </a:r>
          </a:p>
        </p:txBody>
      </p:sp>
      <p:sp>
        <p:nvSpPr>
          <p:cNvPr id="3" name="Content Placeholder 2">
            <a:extLst>
              <a:ext uri="{FF2B5EF4-FFF2-40B4-BE49-F238E27FC236}">
                <a16:creationId xmlns:a16="http://schemas.microsoft.com/office/drawing/2014/main" id="{54EEE9CC-DE20-6910-9D50-855A45A2639D}"/>
              </a:ext>
            </a:extLst>
          </p:cNvPr>
          <p:cNvSpPr>
            <a:spLocks noGrp="1"/>
          </p:cNvSpPr>
          <p:nvPr>
            <p:ph idx="1"/>
          </p:nvPr>
        </p:nvSpPr>
        <p:spPr>
          <a:xfrm>
            <a:off x="2231136" y="2638044"/>
            <a:ext cx="7729728" cy="4219956"/>
          </a:xfrm>
        </p:spPr>
        <p:txBody>
          <a:bodyPr>
            <a:normAutofit/>
          </a:bodyPr>
          <a:lstStyle/>
          <a:p>
            <a:pPr marL="0" indent="0">
              <a:buNone/>
            </a:pPr>
            <a:r>
              <a:rPr lang="en-IN" b="1" dirty="0"/>
              <a:t>Visuals:</a:t>
            </a:r>
          </a:p>
          <a:p>
            <a:r>
              <a:rPr lang="en-IN" dirty="0"/>
              <a:t>Top 5 Districts with most Accident counts.</a:t>
            </a:r>
          </a:p>
          <a:p>
            <a:r>
              <a:rPr lang="en-IN" dirty="0"/>
              <a:t>Top 10 Vehicles by Casualty</a:t>
            </a:r>
          </a:p>
          <a:p>
            <a:r>
              <a:rPr lang="en-IN" b="1" dirty="0"/>
              <a:t>Card Visuals: </a:t>
            </a:r>
            <a:r>
              <a:rPr lang="en-IN" dirty="0"/>
              <a:t>To display the Total casualties and Total Vehicles involved in road accidents in each district and road surface.</a:t>
            </a:r>
          </a:p>
          <a:p>
            <a:r>
              <a:rPr lang="en-IN" b="1" dirty="0"/>
              <a:t>Donut Chart: </a:t>
            </a:r>
            <a:r>
              <a:rPr lang="en-IN" dirty="0"/>
              <a:t>Number of casualty in Rural and Urban regions.</a:t>
            </a:r>
          </a:p>
          <a:p>
            <a:r>
              <a:rPr lang="en-IN" b="1" dirty="0"/>
              <a:t>Slicers: </a:t>
            </a:r>
            <a:r>
              <a:rPr lang="en-IN" dirty="0"/>
              <a:t>District, Road surface, Year</a:t>
            </a:r>
          </a:p>
          <a:p>
            <a:pPr marL="0" indent="0">
              <a:buNone/>
            </a:pPr>
            <a:r>
              <a:rPr lang="en-IN" b="1" dirty="0"/>
              <a:t>Insights: </a:t>
            </a:r>
          </a:p>
          <a:p>
            <a:r>
              <a:rPr lang="en-IN" dirty="0"/>
              <a:t>Number of casualties and the vehicles vary, but car being the top accident- prone vehicle.</a:t>
            </a:r>
          </a:p>
          <a:p>
            <a:r>
              <a:rPr lang="en-IN" dirty="0"/>
              <a:t>Majority-wise, Casualties in Urban &gt; Casualties in Rural</a:t>
            </a:r>
            <a:endParaRPr lang="en-IN" b="1" dirty="0"/>
          </a:p>
          <a:p>
            <a:endParaRPr lang="en-IN" dirty="0"/>
          </a:p>
        </p:txBody>
      </p:sp>
    </p:spTree>
    <p:extLst>
      <p:ext uri="{BB962C8B-B14F-4D97-AF65-F5344CB8AC3E}">
        <p14:creationId xmlns:p14="http://schemas.microsoft.com/office/powerpoint/2010/main" val="3625918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958D1-4E6B-B057-E9B0-B87F1D4578DF}"/>
              </a:ext>
            </a:extLst>
          </p:cNvPr>
          <p:cNvSpPr>
            <a:spLocks noGrp="1"/>
          </p:cNvSpPr>
          <p:nvPr>
            <p:ph type="title"/>
          </p:nvPr>
        </p:nvSpPr>
        <p:spPr/>
        <p:txBody>
          <a:bodyPr/>
          <a:lstStyle/>
          <a:p>
            <a:r>
              <a:rPr lang="en-IN" dirty="0"/>
              <a:t>Conclusion &amp; recommendations</a:t>
            </a:r>
          </a:p>
        </p:txBody>
      </p:sp>
      <p:sp>
        <p:nvSpPr>
          <p:cNvPr id="3" name="Content Placeholder 2">
            <a:extLst>
              <a:ext uri="{FF2B5EF4-FFF2-40B4-BE49-F238E27FC236}">
                <a16:creationId xmlns:a16="http://schemas.microsoft.com/office/drawing/2014/main" id="{1904D2B2-D90D-5869-A7FD-83DF1262B829}"/>
              </a:ext>
            </a:extLst>
          </p:cNvPr>
          <p:cNvSpPr>
            <a:spLocks noGrp="1"/>
          </p:cNvSpPr>
          <p:nvPr>
            <p:ph idx="1"/>
          </p:nvPr>
        </p:nvSpPr>
        <p:spPr/>
        <p:txBody>
          <a:bodyPr/>
          <a:lstStyle/>
          <a:p>
            <a:r>
              <a:rPr lang="en-US" dirty="0"/>
              <a:t>Overall, the analysis highlights that while most road accidents are slight, the number of incidents remains high — particularly in urban regions and during certain months.</a:t>
            </a:r>
          </a:p>
          <a:p>
            <a:r>
              <a:rPr lang="en-US" dirty="0"/>
              <a:t>Most of the accidents occur during the day driving on dry surface roads, indicating the need of awareness in driver’s behavior and enforcing stringent road laws for both the drivers and pedestrians.</a:t>
            </a:r>
          </a:p>
          <a:p>
            <a:r>
              <a:rPr lang="en-US" dirty="0"/>
              <a:t>A data-driven approach to </a:t>
            </a:r>
            <a:r>
              <a:rPr lang="en-US" b="1" dirty="0"/>
              <a:t>road safety planning</a:t>
            </a:r>
            <a:r>
              <a:rPr lang="en-US" dirty="0"/>
              <a:t>, </a:t>
            </a:r>
            <a:r>
              <a:rPr lang="en-US" b="1" dirty="0"/>
              <a:t>infrastructure improvement</a:t>
            </a:r>
            <a:r>
              <a:rPr lang="en-US" dirty="0"/>
              <a:t>, and </a:t>
            </a:r>
            <a:r>
              <a:rPr lang="en-US" b="1" dirty="0"/>
              <a:t>public awareness</a:t>
            </a:r>
            <a:r>
              <a:rPr lang="en-US" dirty="0"/>
              <a:t> can significantly reduce accident frequency and severity in the coming years.</a:t>
            </a:r>
            <a:endParaRPr lang="en-IN" dirty="0"/>
          </a:p>
        </p:txBody>
      </p:sp>
    </p:spTree>
    <p:extLst>
      <p:ext uri="{BB962C8B-B14F-4D97-AF65-F5344CB8AC3E}">
        <p14:creationId xmlns:p14="http://schemas.microsoft.com/office/powerpoint/2010/main" val="3059181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AE659-E2B9-A791-2B3E-A1654FAAEF27}"/>
              </a:ext>
            </a:extLst>
          </p:cNvPr>
          <p:cNvSpPr>
            <a:spLocks noGrp="1"/>
          </p:cNvSpPr>
          <p:nvPr>
            <p:ph type="ctrTitle"/>
          </p:nvPr>
        </p:nvSpPr>
        <p:spPr/>
        <p:txBody>
          <a:bodyPr/>
          <a:lstStyle/>
          <a:p>
            <a:r>
              <a:rPr lang="en-IN" dirty="0"/>
              <a:t>Thank you</a:t>
            </a:r>
          </a:p>
        </p:txBody>
      </p:sp>
    </p:spTree>
    <p:extLst>
      <p:ext uri="{BB962C8B-B14F-4D97-AF65-F5344CB8AC3E}">
        <p14:creationId xmlns:p14="http://schemas.microsoft.com/office/powerpoint/2010/main" val="42294651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LE_NAME_PARSED_KEY" val="TRUE"/>
</p:tagLst>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ocument_x0020_Purpose xmlns="f577acbf-5b0b-4b4f-9948-268e97f8d3a4">Informational</Document_x0020_Purpose>
    <Initiatives xmlns="f577acbf-5b0b-4b4f-9948-268e97f8d3a4"/>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D401524DC532D42A0E0ED886331A72B" ma:contentTypeVersion="15" ma:contentTypeDescription="Create a new document." ma:contentTypeScope="" ma:versionID="aba17d7263e5a17e1efe42a3571abb41">
  <xsd:schema xmlns:xsd="http://www.w3.org/2001/XMLSchema" xmlns:xs="http://www.w3.org/2001/XMLSchema" xmlns:p="http://schemas.microsoft.com/office/2006/metadata/properties" xmlns:ns2="f577acbf-5b0b-4b4f-9948-268e97f8d3a4" xmlns:ns3="b1e4d6ee-9f6f-43f8-a618-24f3d84da28f" targetNamespace="http://schemas.microsoft.com/office/2006/metadata/properties" ma:root="true" ma:fieldsID="e4e3c9c8ed1c3d723d02c9f1cb24d19a" ns2:_="" ns3:_="">
    <xsd:import namespace="f577acbf-5b0b-4b4f-9948-268e97f8d3a4"/>
    <xsd:import namespace="b1e4d6ee-9f6f-43f8-a618-24f3d84da2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3:LastSharedByUser" minOccurs="0"/>
                <xsd:element ref="ns3:LastSharedByTime" minOccurs="0"/>
                <xsd:element ref="ns2:Document_x0020_Purpose" minOccurs="0"/>
                <xsd:element ref="ns2:Initiatives" minOccurs="0"/>
                <xsd:element ref="ns2:MediaServiceDateTaken" minOccurs="0"/>
                <xsd:element ref="ns2:MediaServiceAutoTags" minOccurs="0"/>
                <xsd:element ref="ns2:MediaServiceOCR" minOccurs="0"/>
                <xsd:element ref="ns2:MediaServiceLocation" minOccurs="0"/>
                <xsd:element ref="ns2:MediaServiceEventHashCode" minOccurs="0"/>
                <xsd:element ref="ns2: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77acbf-5b0b-4b4f-9948-268e97f8d3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ocument_x0020_Purpose" ma:index="14" nillable="true" ma:displayName="Document Purpose" ma:default="Informational" ma:format="Dropdown" ma:internalName="Document_x0020_Purpose">
      <xsd:simpleType>
        <xsd:restriction base="dms:Choice">
          <xsd:enumeration value="Informational"/>
          <xsd:enumeration value="Feature Spec"/>
          <xsd:enumeration value="Engineering Design"/>
          <xsd:enumeration value="Planning"/>
        </xsd:restriction>
      </xsd:simpleType>
    </xsd:element>
    <xsd:element name="Initiatives" ma:index="15" nillable="true" ma:displayName="Initiatives" ma:description="List of initiatives related to this document" ma:internalName="Initiatives">
      <xsd:complexType>
        <xsd:complexContent>
          <xsd:extension base="dms:MultiChoice">
            <xsd:sequence>
              <xsd:element name="Value" maxOccurs="unbounded" minOccurs="0" nillable="true">
                <xsd:simpleType>
                  <xsd:restriction base="dms:Choice">
                    <xsd:enumeration value="Add-in MAU"/>
                    <xsd:enumeration value="Custom Functions"/>
                    <xsd:enumeration value="Data &amp; Analytics"/>
                    <xsd:enumeration value="DevEx: Portals &amp; Programs"/>
                    <xsd:enumeration value="DevEx: Tools &amp; Libraries"/>
                    <xsd:enumeration value="Engineering"/>
                    <xsd:enumeration value="Excel API"/>
                    <xsd:enumeration value="In-Market Support"/>
                    <xsd:enumeration value="Maker Access"/>
                    <xsd:enumeration value="SDX Runtime &amp; Partners"/>
                    <xsd:enumeration value="SDX Service Delivery"/>
                    <xsd:enumeration value="SDX API &amp; Pipeline"/>
                    <xsd:enumeration value="Shield &amp; OCE"/>
                  </xsd:restriction>
                </xsd:simpleType>
              </xsd:element>
            </xsd:sequence>
          </xsd:extension>
        </xsd:complexContent>
      </xsd:complex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MediaServiceAutoTags" ma:internalName="MediaServiceAutoTags" ma:readOnly="true">
      <xsd:simpleType>
        <xsd:restriction base="dms:Text"/>
      </xsd:simpleType>
    </xsd:element>
    <xsd:element name="MediaServiceOCR" ma:index="18" nillable="true" ma:displayName="MediaServiceOCR" ma:internalName="MediaServiceOCR" ma:readOnly="true">
      <xsd:simpleType>
        <xsd:restriction base="dms:Note">
          <xsd:maxLength value="255"/>
        </xsd:restriction>
      </xsd:simpleType>
    </xsd:element>
    <xsd:element name="MediaServiceLocation" ma:index="19" nillable="true" ma:displayName="MediaServiceLocation" ma:internalName="MediaServiceLocation"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4d6ee-9f6f-43f8-a618-24f3d84da2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hidden="true" ma:internalName="LastSharedByUser" ma:readOnly="true">
      <xsd:simpleType>
        <xsd:restriction base="dms:Note"/>
      </xsd:simpleType>
    </xsd:element>
    <xsd:element name="LastSharedByTime" ma:index="13"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1AFCC0-734A-4A90-A597-A1CB34860DCD}">
  <ds:schemaRefs>
    <ds:schemaRef ds:uri="http://schemas.microsoft.com/sharepoint/v3/contenttype/forms"/>
  </ds:schemaRefs>
</ds:datastoreItem>
</file>

<file path=customXml/itemProps2.xml><?xml version="1.0" encoding="utf-8"?>
<ds:datastoreItem xmlns:ds="http://schemas.openxmlformats.org/officeDocument/2006/customXml" ds:itemID="{617AB1FA-2F28-4684-9230-02ACEB6C0B0A}">
  <ds:schemaRefs>
    <ds:schemaRef ds:uri="http://purl.org/dc/elements/1.1/"/>
    <ds:schemaRef ds:uri="http://schemas.microsoft.com/office/2006/metadata/properties"/>
    <ds:schemaRef ds:uri="b1e4d6ee-9f6f-43f8-a618-24f3d84da28f"/>
    <ds:schemaRef ds:uri="http://schemas.microsoft.com/office/2006/documentManagement/types"/>
    <ds:schemaRef ds:uri="http://purl.org/dc/terms/"/>
    <ds:schemaRef ds:uri="http://schemas.openxmlformats.org/package/2006/metadata/core-properties"/>
    <ds:schemaRef ds:uri="f577acbf-5b0b-4b4f-9948-268e97f8d3a4"/>
    <ds:schemaRef ds:uri="http://purl.org/dc/dcmitype/"/>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1DD29C39-1C4E-4B06-A1F4-2510F2DACF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77acbf-5b0b-4b4f-9948-268e97f8d3a4"/>
    <ds:schemaRef ds:uri="b1e4d6ee-9f6f-43f8-a618-24f3d84da2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Parcel</Template>
  <TotalTime>1594</TotalTime>
  <Words>533</Words>
  <Application>Microsoft Office PowerPoint</Application>
  <PresentationFormat>Widescreen</PresentationFormat>
  <Paragraphs>43</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Gill Sans MT</vt:lpstr>
      <vt:lpstr>Parcel</vt:lpstr>
      <vt:lpstr>ROAD ACCIDENT SEVERITY analysis</vt:lpstr>
      <vt:lpstr>Why road accident analysis?</vt:lpstr>
      <vt:lpstr>Dataset description</vt:lpstr>
      <vt:lpstr>DATA model overview</vt:lpstr>
      <vt:lpstr>INSIGHTS OVERVIEW DASHboard</vt:lpstr>
      <vt:lpstr>INSIGHTS Severity analysis</vt:lpstr>
      <vt:lpstr>Insights vehicle &amp; casualty insights</vt:lpstr>
      <vt:lpstr>Conclusion &amp;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Jubelin Elizabeth Joji</cp:lastModifiedBy>
  <cp:revision>6</cp:revision>
  <dcterms:created xsi:type="dcterms:W3CDTF">2018-06-07T21:39:02Z</dcterms:created>
  <dcterms:modified xsi:type="dcterms:W3CDTF">2025-11-14T07:33:17Z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0x010100CD401524DC532D42A0E0ED886331A72B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t-dahop@microsoft.com</vt:lpwstr>
  </property>
  <property fmtid="{D5CDD505-2E9C-101B-9397-08002B2CF9AE}" pid="6" name="MSIP_Label_f42aa342-8706-4288-bd11-ebb85995028c_SetDate">
    <vt:lpwstr>2018-06-18T13:45:27.3782680Z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